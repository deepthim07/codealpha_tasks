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briefly. Explain that PhishShield is a phishing-awareness project for CodeAlpha Task 2. The examples are mainly fictional and are used only for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phishing targets people by using believable messages and requests. Technical security tools cannot stop every person from being tricked, so awareness is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simply: phishing is a trick where someone pretends to be trustworthy to get information or access. The attacker sends a message, tries to make you respond, and then attempts to get valuable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five steps from choosing a target to stealing information. The important point is to pause and verify before interacting with the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Phishing can happen through email, SMS, phone calls, social media, QR codes and fake websites. The main idea is to check the source before responding.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fictional example created for training. Point out the sender, urgent message, suspicious link, request for sensitive information and unexpected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table as a quick reference. Check several signs together. When unsure, use the official app or website instead of the link in the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login page is fictional. Check the domain, spelling, information being requested and unexpected login prompt. Remember that HTTPS alone does not prove a website is genuine.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Social engineering tries to influence a person's decision. Common tricks include urgency, fear, authority, curiosity, rewards and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four scenarios are fictional and are only for training. For each one, identify the trick, warning sign and safe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real case reported by NPR and NBC News. A scammer impersonated a supplier and used fake emails and invoices to redirect payments from Google and Facebook. The main lesson is to verify payment or bank-detail changes through a trusted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STOP is a simple way to remember what to do: Stop before clicking, Think about the request, Observe the sender and link, and Proceed only after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you click a suspicious link, stay calm and act quickly. Stop interacting, secure exposed accounts, contact your bank or provider if needed, monitor your accounts and report the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each question and choose A, B, C or D. The answers are on the next slide. All examples are fictional.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Reveal the answers and briefly explain why each option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Take about 20 seconds to decide whether you would click it. Discuss the warning signs before showing the answer. The message is fictional.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six warning signs. The safe response is not to click or pay. Check the official careers page or ask the placement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with the five key points. Mention that the examples are fictional and the references are provided. Thank the evaluators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4754880"/>
            <a:ext cx="8321040" cy="0"/>
          </a:xfrm>
          <a:prstGeom prst="line">
            <a:avLst/>
          </a:prstGeom>
          <a:noFill/>
          <a:ln w="9525">
            <a:solidFill>
              <a:srgbClr val="223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828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PHISHSHIELD  //  Phishing Awareness &amp; Social Engineering Defense  //  CodeAlpha Task 2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120640" y="731520"/>
            <a:ext cx="3474720" cy="3474720"/>
          </a:xfrm>
          <a:prstGeom prst="ellipse">
            <a:avLst/>
          </a:prstGeom>
          <a:solidFill>
            <a:srgbClr val="0A0F1C">
              <a:alpha val="0"/>
            </a:srgbClr>
          </a:solidFill>
          <a:ln w="12700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532120" y="1143000"/>
            <a:ext cx="2651760" cy="2651760"/>
          </a:xfrm>
          <a:prstGeom prst="ellipse">
            <a:avLst/>
          </a:prstGeom>
          <a:solidFill>
            <a:srgbClr val="0A0F1C">
              <a:alpha val="0"/>
            </a:srgbClr>
          </a:solidFill>
          <a:ln w="12700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989320" y="1600200"/>
            <a:ext cx="1737360" cy="1737360"/>
          </a:xfrm>
          <a:prstGeom prst="ellipse">
            <a:avLst/>
          </a:prstGeom>
          <a:solidFill>
            <a:srgbClr val="0A0F1C">
              <a:alpha val="0"/>
            </a:srgbClr>
          </a:solidFill>
          <a:ln w="12700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6217920" y="1828800"/>
            <a:ext cx="1280160" cy="1280160"/>
          </a:xfrm>
          <a:prstGeom prst="ellipse">
            <a:avLst/>
          </a:prstGeom>
          <a:solidFill>
            <a:srgbClr val="0E2A36"/>
          </a:solidFill>
          <a:ln w="19050">
            <a:solidFill>
              <a:srgbClr val="22D3EE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148840"/>
            <a:ext cx="640080" cy="640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83480" y="868680"/>
            <a:ext cx="2286000" cy="384048"/>
          </a:xfrm>
          <a:prstGeom prst="roundRect">
            <a:avLst>
              <a:gd name="adj" fmla="val 16667"/>
            </a:avLst>
          </a:prstGeom>
          <a:solidFill>
            <a:srgbClr val="2A1220"/>
          </a:solidFill>
          <a:ln w="9525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120640" y="9509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ALERT: look-alike domain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675120" y="3703320"/>
            <a:ext cx="2103120" cy="384048"/>
          </a:xfrm>
          <a:prstGeom prst="roundRect">
            <a:avLst>
              <a:gd name="adj" fmla="val 16667"/>
            </a:avLst>
          </a:prstGeom>
          <a:solidFill>
            <a:srgbClr val="10281F"/>
          </a:solidFill>
          <a:ln w="9525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6812280" y="37856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OK: verified independently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411480" y="9601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t>CODEALPHA CYBERSECURITY INTERNSHIP • TASK 2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11480" y="1280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</a:t>
            </a:r>
            <a:pPr indent="0" marL="0">
              <a:buNone/>
            </a:pPr>
            <a:r>
              <a:rPr lang="en-US" sz="5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5400" dirty="0"/>
          </a:p>
        </p:txBody>
      </p:sp>
      <p:sp>
        <p:nvSpPr>
          <p:cNvPr id="14" name="Text 10"/>
          <p:cNvSpPr txBox="1"/>
          <p:nvPr/>
        </p:nvSpPr>
        <p:spPr>
          <a:xfrm>
            <a:off x="411480" y="22860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t>Phishing Awareness &amp; Social Engineering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411480" y="3108960"/>
            <a:ext cx="10972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4114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11480" y="388620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0A0F1C"/>
          </a:solidFill>
          <a:ln w="9525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PHISHING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1417320" y="3886200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0A0F1C"/>
          </a:solidFill>
          <a:ln w="9525">
            <a:solidFill>
              <a:srgbClr val="FBB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 ENGINEERING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3108960" y="388620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A0F1C"/>
          </a:solidFill>
          <a:ln w="9525">
            <a:solidFill>
              <a:srgbClr val="34D3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AWARENESS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// WHY PHISHING MATTERS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don't break in. They get invited in.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9728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111A2E"/>
          </a:solidFill>
          <a:ln w="9525">
            <a:solidFill>
              <a:srgbClr val="22D3EE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11480" y="17830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2057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 believable lie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167128" y="1645920"/>
            <a:ext cx="301752" cy="25603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2514600" y="109728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111A2E"/>
          </a:solidFill>
          <a:ln w="9525">
            <a:solidFill>
              <a:srgbClr val="FBBF24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23444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514600" y="17830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message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2606040" y="2057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Pretends to be someone trusted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270248" y="1645920"/>
            <a:ext cx="301752" cy="25603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4617720" y="109728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111A2E"/>
          </a:solidFill>
          <a:ln w="9525">
            <a:solidFill>
              <a:srgbClr val="FBBF24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23444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617720" y="17830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4709160" y="2057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fast, without checking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373368" y="1645920"/>
            <a:ext cx="301752" cy="25603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6720840" y="109728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111A2E"/>
          </a:solidFill>
          <a:ln w="9525">
            <a:solidFill>
              <a:srgbClr val="F43F5E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2344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720840" y="17830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information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6812280" y="2057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OTPs, money, data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11480" y="2743200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25" name="Shape 18"/>
          <p:cNvSpPr/>
          <p:nvPr/>
        </p:nvSpPr>
        <p:spPr>
          <a:xfrm>
            <a:off x="411480" y="2743200"/>
            <a:ext cx="45720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26" name="Text 19"/>
          <p:cNvSpPr txBox="1"/>
          <p:nvPr/>
        </p:nvSpPr>
        <p:spPr>
          <a:xfrm>
            <a:off x="594360" y="2852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targets people, not firewalls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59436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defences can't fully block a message that persuades you to act.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200400" y="2743200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>
            <a:off x="3200400" y="2743200"/>
            <a:ext cx="45720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30" name="Text 23"/>
          <p:cNvSpPr txBox="1"/>
          <p:nvPr/>
        </p:nvSpPr>
        <p:spPr>
          <a:xfrm>
            <a:off x="3383280" y="2852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send, easy to scale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338328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go out in bulk, so attackers only need a few people to respond.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989320" y="2743200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33" name="Shape 26"/>
          <p:cNvSpPr/>
          <p:nvPr/>
        </p:nvSpPr>
        <p:spPr>
          <a:xfrm>
            <a:off x="5989320" y="2743200"/>
            <a:ext cx="45720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34" name="Text 27"/>
          <p:cNvSpPr txBox="1"/>
          <p:nvPr/>
        </p:nvSpPr>
        <p:spPr>
          <a:xfrm>
            <a:off x="6172200" y="2852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reply can open the door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617220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 can give access to email, banking and workplace accounts.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411480" y="437083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CISA, NSA, FBI &amp; MS-ISAC, "Phishing Guidance: Stopping the Attack Cycle at Phase One" (Oct 2023). No statistics are used on purpose; every factual claim in this deck is tied to a cited source.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// DEFINITION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97280"/>
            <a:ext cx="4023360" cy="1600200"/>
          </a:xfrm>
          <a:prstGeom prst="roundRect">
            <a:avLst>
              <a:gd name="adj" fmla="val 4000"/>
            </a:avLst>
          </a:prstGeom>
          <a:solidFill>
            <a:srgbClr val="111A2E"/>
          </a:solidFill>
          <a:ln w="9525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207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DEFINITION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4630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social-engineering attack. The attacker poses as a trusted person or organization - by email, text, call or website - to trick you into sharing information or installing malware.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11480" y="2926080"/>
            <a:ext cx="1188720" cy="1005840"/>
          </a:xfrm>
          <a:prstGeom prst="roundRect">
            <a:avLst>
              <a:gd name="adj" fmla="val 6364"/>
            </a:avLst>
          </a:prstGeom>
          <a:solidFill>
            <a:srgbClr val="111A2E"/>
          </a:solidFill>
          <a:ln w="9525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11480" y="3017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BAIT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337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convincing message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609344" y="3337560"/>
            <a:ext cx="164592" cy="182880"/>
          </a:xfrm>
          <a:prstGeom prst="rightArrow">
            <a:avLst/>
          </a:prstGeom>
          <a:solidFill>
            <a:srgbClr val="8FA3C0"/>
          </a:solidFill>
          <a:ln w="12700">
            <a:solidFill>
              <a:srgbClr val="8FA3C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783080" y="2926080"/>
            <a:ext cx="1188720" cy="1005840"/>
          </a:xfrm>
          <a:prstGeom prst="roundRect">
            <a:avLst>
              <a:gd name="adj" fmla="val 6364"/>
            </a:avLst>
          </a:prstGeom>
          <a:solidFill>
            <a:srgbClr val="111A2E"/>
          </a:solidFill>
          <a:ln w="9525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1783080" y="3017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874520" y="3337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click or reply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980944" y="3337560"/>
            <a:ext cx="164592" cy="182880"/>
          </a:xfrm>
          <a:prstGeom prst="rightArrow">
            <a:avLst/>
          </a:prstGeom>
          <a:solidFill>
            <a:srgbClr val="8FA3C0"/>
          </a:solidFill>
          <a:ln w="12700">
            <a:solidFill>
              <a:srgbClr val="8FA3C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154680" y="2926080"/>
            <a:ext cx="1188720" cy="1005840"/>
          </a:xfrm>
          <a:prstGeom prst="roundRect">
            <a:avLst>
              <a:gd name="adj" fmla="val 6364"/>
            </a:avLst>
          </a:prstGeom>
          <a:solidFill>
            <a:srgbClr val="111A2E"/>
          </a:solidFill>
          <a:ln w="9525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3154680" y="3017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246120" y="3337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 access stolen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63440" y="1097280"/>
            <a:ext cx="4069080" cy="603504"/>
          </a:xfrm>
          <a:prstGeom prst="roundRect">
            <a:avLst>
              <a:gd name="adj" fmla="val 10606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234440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303520" y="1188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303520" y="14264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Usernames and passwords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663440" y="1783080"/>
            <a:ext cx="4069080" cy="603504"/>
          </a:xfrm>
          <a:prstGeom prst="roundRect">
            <a:avLst>
              <a:gd name="adj" fmla="val 10606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2024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303520" y="1874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information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303520" y="21122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and bank details, OTPs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663440" y="2468880"/>
            <a:ext cx="4069080" cy="603504"/>
          </a:xfrm>
          <a:prstGeom prst="roundRect">
            <a:avLst>
              <a:gd name="adj" fmla="val 10606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606040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303520" y="2560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information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5303520" y="27980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numbers, address, date of birth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4663440" y="3154680"/>
            <a:ext cx="4069080" cy="603504"/>
          </a:xfrm>
          <a:prstGeom prst="roundRect">
            <a:avLst>
              <a:gd name="adj" fmla="val 10606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291840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303520" y="3246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access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5303520" y="34838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over email or social accounts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4663440" y="3840480"/>
            <a:ext cx="4069080" cy="603504"/>
          </a:xfrm>
          <a:prstGeom prst="roundRect">
            <a:avLst>
              <a:gd name="adj" fmla="val 10606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977640"/>
            <a:ext cx="329184" cy="32918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5303520" y="3931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delivery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5303520" y="41696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Tricking you into opening harmful files</a:t>
            </a:r>
            <a:endParaRPr lang="en-US" sz="950" dirty="0"/>
          </a:p>
        </p:txBody>
      </p:sp>
      <p:sp>
        <p:nvSpPr>
          <p:cNvPr id="39" name="Text 31"/>
          <p:cNvSpPr txBox="1"/>
          <p:nvPr/>
        </p:nvSpPr>
        <p:spPr>
          <a:xfrm>
            <a:off x="411480" y="416052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CISA Phishing General Security Postcard (2024) for the definition; CISA "Recognize and Report Phishing" for the bait idea; bait-hook-catch framing per CISA's phishing infographic (via U.S. Dept. of State summary).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// ATTACK LIFECYCLE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phishing attack lifecycle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22960" y="1481328"/>
            <a:ext cx="7498080" cy="0"/>
          </a:xfrm>
          <a:prstGeom prst="line">
            <a:avLst/>
          </a:prstGeom>
          <a:noFill/>
          <a:ln w="25400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069848" y="1371600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11480" y="1783080"/>
            <a:ext cx="1554480" cy="2148840"/>
          </a:xfrm>
          <a:prstGeom prst="roundRect">
            <a:avLst>
              <a:gd name="adj" fmla="val 4118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selection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521208" y="288036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group or person: students, customers, staff.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2715768" y="1371600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057400" y="1783080"/>
            <a:ext cx="1554480" cy="2148840"/>
          </a:xfrm>
          <a:prstGeom prst="roundRect">
            <a:avLst>
              <a:gd name="adj" fmla="val 4118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9202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14884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message creation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2167128" y="288036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believable lie: logo, tone, pretext.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4361688" y="1371600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703320" y="1783080"/>
            <a:ext cx="1554480" cy="2148840"/>
          </a:xfrm>
          <a:prstGeom prst="roundRect">
            <a:avLst>
              <a:gd name="adj" fmla="val 4118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9202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79476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3813048" y="288036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by email, SMS, call, social DM or QR code.</a:t>
            </a:r>
            <a:endParaRPr 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6007608" y="1371600"/>
            <a:ext cx="237744" cy="237744"/>
          </a:xfrm>
          <a:prstGeom prst="ellipse">
            <a:avLst/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5349240" y="1783080"/>
            <a:ext cx="1554480" cy="2148840"/>
          </a:xfrm>
          <a:prstGeom prst="roundRect">
            <a:avLst>
              <a:gd name="adj" fmla="val 4118"/>
            </a:avLst>
          </a:prstGeom>
          <a:solidFill>
            <a:srgbClr val="111A2E"/>
          </a:solidFill>
          <a:ln w="19050">
            <a:solidFill>
              <a:srgbClr val="FBBF24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92024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4068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interaction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5458968" y="288036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clicks, opens a file, calls back or replies.</a:t>
            </a:r>
            <a:endParaRPr lang="en-US" sz="950" dirty="0"/>
          </a:p>
        </p:txBody>
      </p:sp>
      <p:sp>
        <p:nvSpPr>
          <p:cNvPr id="26" name="Text 19"/>
          <p:cNvSpPr txBox="1"/>
          <p:nvPr/>
        </p:nvSpPr>
        <p:spPr>
          <a:xfrm>
            <a:off x="7653528" y="1371600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6995160" y="1783080"/>
            <a:ext cx="1554480" cy="2148840"/>
          </a:xfrm>
          <a:prstGeom prst="roundRect">
            <a:avLst>
              <a:gd name="adj" fmla="val 4118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92024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08660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/ compromise</a:t>
            </a:r>
            <a:endParaRPr lang="en-US" sz="1150" dirty="0"/>
          </a:p>
        </p:txBody>
      </p:sp>
      <p:sp>
        <p:nvSpPr>
          <p:cNvPr id="30" name="Text 22"/>
          <p:cNvSpPr txBox="1"/>
          <p:nvPr/>
        </p:nvSpPr>
        <p:spPr>
          <a:xfrm>
            <a:off x="7104888" y="288036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Credentials, OTPs or money taken; account access gained.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411480" y="4069080"/>
            <a:ext cx="8321040" cy="457200"/>
          </a:xfrm>
          <a:prstGeom prst="roundRect">
            <a:avLst>
              <a:gd name="adj" fmla="val 14000"/>
            </a:avLst>
          </a:prstGeom>
          <a:solidFill>
            <a:srgbClr val="2A2410"/>
          </a:solidFill>
          <a:ln w="9525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32" name="Text 24"/>
          <p:cNvSpPr txBox="1"/>
          <p:nvPr/>
        </p:nvSpPr>
        <p:spPr>
          <a:xfrm>
            <a:off x="59436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POINT  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1-3 happen before you see anything. Step 4 is yours: pause, verify, and the chain stops.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// CHANNELS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doesn't only arrive by email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97280"/>
            <a:ext cx="2697480" cy="1508760"/>
          </a:xfrm>
          <a:prstGeom prst="roundRect">
            <a:avLst>
              <a:gd name="adj" fmla="val 4242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61872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7280" y="1298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emails from banks, colleges or services, with links or attachments.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00400" y="1097280"/>
            <a:ext cx="2697480" cy="1508760"/>
          </a:xfrm>
          <a:prstGeom prst="roundRect">
            <a:avLst>
              <a:gd name="adj" fmla="val 4242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61872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886200" y="1298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(SMS)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3383280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messages with urgent links: delivery fees, KYC, prize claims.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989320" y="1097280"/>
            <a:ext cx="2697480" cy="1508760"/>
          </a:xfrm>
          <a:prstGeom prst="roundRect">
            <a:avLst>
              <a:gd name="adj" fmla="val 4242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61872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675120" y="1298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(voice)</a:t>
            </a:r>
            <a:endParaRPr lang="en-US" sz="1250" dirty="0"/>
          </a:p>
        </p:txBody>
      </p:sp>
      <p:sp>
        <p:nvSpPr>
          <p:cNvPr id="16" name="Text 10"/>
          <p:cNvSpPr txBox="1"/>
          <p:nvPr/>
        </p:nvSpPr>
        <p:spPr>
          <a:xfrm>
            <a:off x="6172200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from a 'bank' or 'IT desk' pushing you to share codes.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11480" y="2743200"/>
            <a:ext cx="2697480" cy="1508760"/>
          </a:xfrm>
          <a:prstGeom prst="roundRect">
            <a:avLst>
              <a:gd name="adj" fmla="val 4242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07792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97280" y="2944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phishing</a:t>
            </a:r>
            <a:endParaRPr lang="en-US" sz="1250" dirty="0"/>
          </a:p>
        </p:txBody>
      </p:sp>
      <p:sp>
        <p:nvSpPr>
          <p:cNvPr id="20" name="Text 13"/>
          <p:cNvSpPr txBox="1"/>
          <p:nvPr/>
        </p:nvSpPr>
        <p:spPr>
          <a:xfrm>
            <a:off x="59436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DMs, giveaways or cloned accounts leading to fake pages.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3200400" y="2743200"/>
            <a:ext cx="2697480" cy="1508760"/>
          </a:xfrm>
          <a:prstGeom prst="roundRect">
            <a:avLst>
              <a:gd name="adj" fmla="val 4242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07792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886200" y="2944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phishing</a:t>
            </a:r>
            <a:endParaRPr lang="en-US" sz="1250" dirty="0"/>
          </a:p>
        </p:txBody>
      </p:sp>
      <p:sp>
        <p:nvSpPr>
          <p:cNvPr id="24" name="Text 16"/>
          <p:cNvSpPr txBox="1"/>
          <p:nvPr/>
        </p:nvSpPr>
        <p:spPr>
          <a:xfrm>
            <a:off x="338328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QR code on a poster or message that opens a fake login page.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5989320" y="2743200"/>
            <a:ext cx="2697480" cy="1508760"/>
          </a:xfrm>
          <a:prstGeom prst="roundRect">
            <a:avLst>
              <a:gd name="adj" fmla="val 4242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907792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675120" y="2944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websites</a:t>
            </a:r>
            <a:endParaRPr lang="en-US" sz="1250" dirty="0"/>
          </a:p>
        </p:txBody>
      </p:sp>
      <p:sp>
        <p:nvSpPr>
          <p:cNvPr id="28" name="Text 19"/>
          <p:cNvSpPr txBox="1"/>
          <p:nvPr/>
        </p:nvSpPr>
        <p:spPr>
          <a:xfrm>
            <a:off x="617220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 sites built to capture passwords and card details.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411480" y="44805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CISA Phishing General Security Postcard (2024) - definitions of spearphishing, vishing and smishing. QR-code phishing and fake-website descriptions are the author's plain-language summaries.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// SPOT THE PHISH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phishing email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5120640" cy="3520440"/>
          </a:xfrm>
          <a:prstGeom prst="roundRect">
            <a:avLst>
              <a:gd name="adj" fmla="val 1818"/>
            </a:avLst>
          </a:prstGeom>
          <a:solidFill>
            <a:srgbClr val="0E1627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143000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0A0F1C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14300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A0F1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22960" y="114300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A0F1C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1097280" y="11155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INBOX  &gt;  1 new message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417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 </a:t>
            </a:r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Security &lt;alerts@northbrldge-secure.example&gt;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6916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 </a:t>
            </a:r>
            <a:pPr indent="0" marL="0">
              <a:buNone/>
            </a:pPr>
            <a:r>
              <a:rPr lang="en-US" sz="9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Account will be suspended in 24 hours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4360" y="1965960"/>
            <a:ext cx="4754880" cy="0"/>
          </a:xfrm>
          <a:prstGeom prst="line">
            <a:avLst/>
          </a:prstGeom>
          <a:noFill/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94360" y="20574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 on your account. To avoid permanent suspension, confirm your identity now by entering your card number and the OTP we send you.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324612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VERIFY MY ACCOUNT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265176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-&gt; http://northbridge-verify.example/login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94360" y="3840480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0A0F1C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95935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51560" y="3959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Account_Statement.zip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5230368" y="1371600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5230368" y="1645920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5230368" y="2240280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5230368" y="3273552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5230368" y="3959352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5760720" y="1051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FLAGS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5760720" y="1362456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6080760" y="1325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sender / domain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6080760" y="15361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'northbrldge' swaps i for l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5760720" y="1892808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6080760" y="18562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threat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6080760" y="20665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deadline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5760720" y="2423160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6080760" y="23865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6080760" y="25968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text hides a different address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5760720" y="2953512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6080760" y="29169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Sensitive-info request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6080760" y="3127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 + OTP by email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5760720" y="3483864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6080760" y="34472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6080760" y="3657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.zip 'statement' you didn't ask for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5760720" y="4014216"/>
            <a:ext cx="237744" cy="237744"/>
          </a:xfrm>
          <a:prstGeom prst="ellipse">
            <a:avLst/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6080760" y="39776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050" dirty="0"/>
          </a:p>
        </p:txBody>
      </p:sp>
      <p:sp>
        <p:nvSpPr>
          <p:cNvPr id="42" name="Text 38"/>
          <p:cNvSpPr txBox="1"/>
          <p:nvPr/>
        </p:nvSpPr>
        <p:spPr>
          <a:xfrm>
            <a:off x="6080760" y="41879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'Dear Customer'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411480" y="459028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example created for training. Red-flag list consistent with CISA "Recognize and Report Phishing" (urgent language, requests for personal information, incorrect email addresses).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// COMPARE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vs legitimate email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329184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0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0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0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LEGITIMATE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9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Sender address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Look-alike domain, e.g. support@northbrldge.example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official domain you already know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Alarming, threatening or too good to be true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Calm, professional, consistent with past 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'Act in 24 hours or lose access'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Reasonable deadlines with clear explanation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Hover shows a different, odd address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the official site you know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Unexpected .zip / .exe / macro files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Expected, or 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'Dear Customer' (but may be personalized)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context - still verify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for information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for password, OTP, card or PIN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ask for passwords/OTPs by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to 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'Click now' to a login page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the official app or site yourself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11480" y="44805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based on signs listed in CISA "Recognize and Report Phishing" and the CISA Phishing General Security Postcard (suspicious sender address, generic greetings, urgent language).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// FAKE WEBSITES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identify a fake website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4663440" cy="3520440"/>
          </a:xfrm>
          <a:prstGeom prst="roundRect">
            <a:avLst>
              <a:gd name="adj" fmla="val 1818"/>
            </a:avLst>
          </a:prstGeom>
          <a:solidFill>
            <a:srgbClr val="0E1627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152144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0A0F1C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152144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A0F1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22960" y="1152144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A0F1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05840" y="1097280"/>
            <a:ext cx="3840480" cy="201168"/>
          </a:xfrm>
          <a:prstGeom prst="roundRect">
            <a:avLst>
              <a:gd name="adj" fmla="val 31818"/>
            </a:avLst>
          </a:prstGeom>
          <a:solidFill>
            <a:srgbClr val="0A0F1C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129284"/>
            <a:ext cx="128016" cy="1280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61872" y="10972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https://northbridge-secure-login.example/verify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502920" y="1417320"/>
            <a:ext cx="3931920" cy="30632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1417320"/>
            <a:ext cx="393192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64008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Northbrldge Bank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1938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expired - sign in again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228600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85800" y="2441448"/>
            <a:ext cx="33832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685800" y="274320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85800" y="2898648"/>
            <a:ext cx="33832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 txBox="1"/>
          <p:nvPr/>
        </p:nvSpPr>
        <p:spPr>
          <a:xfrm>
            <a:off x="685800" y="320040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PIN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685800" y="3355848"/>
            <a:ext cx="33832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 txBox="1"/>
          <p:nvPr/>
        </p:nvSpPr>
        <p:spPr>
          <a:xfrm>
            <a:off x="685800" y="365760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password (OTP)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685800" y="3813048"/>
            <a:ext cx="33832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 txBox="1"/>
          <p:nvPr/>
        </p:nvSpPr>
        <p:spPr>
          <a:xfrm>
            <a:off x="685800" y="4114800"/>
            <a:ext cx="1645920" cy="27432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SIGN IN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709160" y="1078992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709160" y="1508760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4709160" y="1920240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4709160" y="3200400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5257800" y="1088136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5577840" y="105156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domain name</a:t>
            </a:r>
            <a:endParaRPr lang="en-US" sz="1050" dirty="0"/>
          </a:p>
        </p:txBody>
      </p:sp>
      <p:sp>
        <p:nvSpPr>
          <p:cNvPr id="31" name="Text 27"/>
          <p:cNvSpPr txBox="1"/>
          <p:nvPr/>
        </p:nvSpPr>
        <p:spPr>
          <a:xfrm>
            <a:off x="5577840" y="127101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plus extra words, not the real site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5257800" y="1636776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5577840" y="16002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Misspellings &amp; look-alikes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5577840" y="181965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'Northbrldge' swaps i for l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5257800" y="2185416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5577840" y="21488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requests for data</a:t>
            </a:r>
            <a:endParaRPr lang="en-US" sz="1050" dirty="0"/>
          </a:p>
        </p:txBody>
      </p:sp>
      <p:sp>
        <p:nvSpPr>
          <p:cNvPr id="37" name="Text 33"/>
          <p:cNvSpPr txBox="1"/>
          <p:nvPr/>
        </p:nvSpPr>
        <p:spPr>
          <a:xfrm>
            <a:off x="5577840" y="236829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and OTP together on one form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5257800" y="2734056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5577840" y="269748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login page</a:t>
            </a:r>
            <a:endParaRPr lang="en-US" sz="1050" dirty="0"/>
          </a:p>
        </p:txBody>
      </p:sp>
      <p:sp>
        <p:nvSpPr>
          <p:cNvPr id="40" name="Text 36"/>
          <p:cNvSpPr txBox="1"/>
          <p:nvPr/>
        </p:nvSpPr>
        <p:spPr>
          <a:xfrm>
            <a:off x="5577840" y="291693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'Session expired' you never triggered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5257800" y="3282696"/>
            <a:ext cx="237744" cy="237744"/>
          </a:xfrm>
          <a:prstGeom prst="ellipse">
            <a:avLst/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5577840" y="32461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redirects</a:t>
            </a:r>
            <a:endParaRPr lang="en-US" sz="1050" dirty="0"/>
          </a:p>
        </p:txBody>
      </p:sp>
      <p:sp>
        <p:nvSpPr>
          <p:cNvPr id="43" name="Text 39"/>
          <p:cNvSpPr txBox="1"/>
          <p:nvPr/>
        </p:nvSpPr>
        <p:spPr>
          <a:xfrm>
            <a:off x="5577840" y="346557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changes after you click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5257800" y="3840480"/>
            <a:ext cx="3474720" cy="685800"/>
          </a:xfrm>
          <a:prstGeom prst="roundRect">
            <a:avLst>
              <a:gd name="adj" fmla="val 9333"/>
            </a:avLst>
          </a:prstGeom>
          <a:solidFill>
            <a:srgbClr val="2A2410"/>
          </a:solidFill>
          <a:ln w="9525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45" name="Text 41"/>
          <p:cNvSpPr txBox="1"/>
          <p:nvPr/>
        </p:nvSpPr>
        <p:spPr>
          <a:xfrm>
            <a:off x="5394960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is NOT proof of safety. </a:t>
            </a:r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padlock only means the connection is encrypted - fake sites can have it too.</a:t>
            </a:r>
            <a:endParaRPr lang="en-US" sz="950" dirty="0"/>
          </a:p>
        </p:txBody>
      </p:sp>
      <p:sp>
        <p:nvSpPr>
          <p:cNvPr id="46" name="Text 42"/>
          <p:cNvSpPr txBox="1"/>
          <p:nvPr/>
        </p:nvSpPr>
        <p:spPr>
          <a:xfrm>
            <a:off x="411480" y="459028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page created for training. Warning signs align with CISA "Recognize and Report Phishing" (incorrect email addresses or links, requests for personal and financial information).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// SOCIAL ENGINEERING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side: no exploit, just a decision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3566160" cy="3520440"/>
          </a:xfrm>
          <a:prstGeom prst="roundRect">
            <a:avLst>
              <a:gd name="adj" fmla="val 1818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457200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234440" y="1188720"/>
            <a:ext cx="2560320" cy="868680"/>
          </a:xfrm>
          <a:prstGeom prst="roundRect">
            <a:avLst>
              <a:gd name="adj" fmla="val 7368"/>
            </a:avLst>
          </a:prstGeom>
          <a:solidFill>
            <a:srgbClr val="2A1220"/>
          </a:solidFill>
          <a:ln w="9525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1371600" y="1188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locks in 10 minutes. Send the OTP to stay active.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06040"/>
            <a:ext cx="457200" cy="4572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234440" y="2514600"/>
            <a:ext cx="2560320" cy="822960"/>
          </a:xfrm>
          <a:prstGeom prst="roundRect">
            <a:avLst>
              <a:gd name="adj" fmla="val 7778"/>
            </a:avLst>
          </a:prstGeom>
          <a:solidFill>
            <a:srgbClr val="0F2A33"/>
          </a:solidFill>
          <a:ln w="9525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1371600" y="2514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(thinking) Locked?! I need to fix this fast...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548640" y="3611880"/>
            <a:ext cx="3291840" cy="822960"/>
          </a:xfrm>
          <a:prstGeom prst="roundRect">
            <a:avLst>
              <a:gd name="adj" fmla="val 7778"/>
            </a:avLst>
          </a:prstGeom>
          <a:solidFill>
            <a:srgbClr val="2A2410"/>
          </a:solidFill>
          <a:ln w="9525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68580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'hacked'. The attacker only needed one rushed decision.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160520" y="1051560"/>
            <a:ext cx="2194560" cy="1097280"/>
          </a:xfrm>
          <a:prstGeom prst="roundRect">
            <a:avLst>
              <a:gd name="adj" fmla="val 5833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188720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709160" y="1207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429768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 within 10 minutes'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446520" y="1051560"/>
            <a:ext cx="2194560" cy="1097280"/>
          </a:xfrm>
          <a:prstGeom prst="roundRect">
            <a:avLst>
              <a:gd name="adj" fmla="val 5833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188720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95160" y="1207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658368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'Your account is compromised'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4160520" y="2240280"/>
            <a:ext cx="2194560" cy="1097280"/>
          </a:xfrm>
          <a:prstGeom prst="roundRect">
            <a:avLst>
              <a:gd name="adj" fmla="val 5833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377440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709160" y="2395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250" dirty="0"/>
          </a:p>
        </p:txBody>
      </p:sp>
      <p:sp>
        <p:nvSpPr>
          <p:cNvPr id="25" name="Text 17"/>
          <p:cNvSpPr txBox="1"/>
          <p:nvPr/>
        </p:nvSpPr>
        <p:spPr>
          <a:xfrm>
            <a:off x="4297680" y="2834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'This is the IT Director'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6446520" y="2240280"/>
            <a:ext cx="2194560" cy="1097280"/>
          </a:xfrm>
          <a:prstGeom prst="roundRect">
            <a:avLst>
              <a:gd name="adj" fmla="val 5833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377440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995160" y="2395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250" dirty="0"/>
          </a:p>
        </p:txBody>
      </p:sp>
      <p:sp>
        <p:nvSpPr>
          <p:cNvPr id="29" name="Text 20"/>
          <p:cNvSpPr txBox="1"/>
          <p:nvPr/>
        </p:nvSpPr>
        <p:spPr>
          <a:xfrm>
            <a:off x="6583680" y="2834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'See who viewed your profile'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4160520" y="3429000"/>
            <a:ext cx="2194560" cy="1097280"/>
          </a:xfrm>
          <a:prstGeom prst="roundRect">
            <a:avLst>
              <a:gd name="adj" fmla="val 5833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3566160"/>
            <a:ext cx="292608" cy="292608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709160" y="3584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250" dirty="0"/>
          </a:p>
        </p:txBody>
      </p:sp>
      <p:sp>
        <p:nvSpPr>
          <p:cNvPr id="33" name="Text 23"/>
          <p:cNvSpPr txBox="1"/>
          <p:nvPr/>
        </p:nvSpPr>
        <p:spPr>
          <a:xfrm>
            <a:off x="4297680" y="4023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won a free laptop'</a:t>
            </a:r>
            <a:endParaRPr lang="en-US" sz="950" dirty="0"/>
          </a:p>
        </p:txBody>
      </p:sp>
      <p:sp>
        <p:nvSpPr>
          <p:cNvPr id="34" name="Shape 24"/>
          <p:cNvSpPr/>
          <p:nvPr/>
        </p:nvSpPr>
        <p:spPr>
          <a:xfrm>
            <a:off x="6446520" y="3429000"/>
            <a:ext cx="2194560" cy="1097280"/>
          </a:xfrm>
          <a:prstGeom prst="roundRect">
            <a:avLst>
              <a:gd name="adj" fmla="val 5833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566160"/>
            <a:ext cx="292608" cy="29260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995160" y="3584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50" dirty="0"/>
          </a:p>
        </p:txBody>
      </p:sp>
      <p:sp>
        <p:nvSpPr>
          <p:cNvPr id="37" name="Text 26"/>
          <p:cNvSpPr txBox="1"/>
          <p:nvPr/>
        </p:nvSpPr>
        <p:spPr>
          <a:xfrm>
            <a:off x="6583680" y="4023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'Hi, it's me - need a quick favour'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// SCENARIOS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fictional scenarios, four safe responses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4069080" cy="1691640"/>
          </a:xfrm>
          <a:prstGeom prst="roundRect">
            <a:avLst>
              <a:gd name="adj" fmla="val 3784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11430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Fake bank KYC message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508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SITUATION</a:t>
            </a:r>
            <a:endParaRPr lang="en-US" sz="650" dirty="0"/>
          </a:p>
        </p:txBody>
      </p:sp>
      <p:sp>
        <p:nvSpPr>
          <p:cNvPr id="9" name="Text 5"/>
          <p:cNvSpPr txBox="1"/>
          <p:nvPr/>
        </p:nvSpPr>
        <p:spPr>
          <a:xfrm>
            <a:off x="1554480" y="1508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SMS: 'KYC expired - update now or account freezes'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810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TECHNIQUE</a:t>
            </a:r>
            <a:endParaRPr lang="en-US" sz="650" dirty="0"/>
          </a:p>
        </p:txBody>
      </p:sp>
      <p:sp>
        <p:nvSpPr>
          <p:cNvPr id="11" name="Text 7"/>
          <p:cNvSpPr txBox="1"/>
          <p:nvPr/>
        </p:nvSpPr>
        <p:spPr>
          <a:xfrm>
            <a:off x="1554480" y="18105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+ urgency + authority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1122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 SIGN</a:t>
            </a:r>
            <a:endParaRPr lang="en-US" sz="65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21122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link; asks for PIN or OTP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24140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RESPONSE</a:t>
            </a:r>
            <a:endParaRPr lang="en-US" sz="650" dirty="0"/>
          </a:p>
        </p:txBody>
      </p:sp>
      <p:sp>
        <p:nvSpPr>
          <p:cNvPr id="15" name="Text 11"/>
          <p:cNvSpPr txBox="1"/>
          <p:nvPr/>
        </p:nvSpPr>
        <p:spPr>
          <a:xfrm>
            <a:off x="1554480" y="24140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link; open bank app or call card number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663440" y="1051560"/>
            <a:ext cx="4069080" cy="1691640"/>
          </a:xfrm>
          <a:prstGeom prst="roundRect">
            <a:avLst>
              <a:gd name="adj" fmla="val 3784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4300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20640" y="11430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Fake job / internship offer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800600" y="1508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SITUATION</a:t>
            </a:r>
            <a:endParaRPr lang="en-US" sz="650" dirty="0"/>
          </a:p>
        </p:txBody>
      </p:sp>
      <p:sp>
        <p:nvSpPr>
          <p:cNvPr id="20" name="Text 15"/>
          <p:cNvSpPr txBox="1"/>
          <p:nvPr/>
        </p:nvSpPr>
        <p:spPr>
          <a:xfrm>
            <a:off x="5806440" y="1508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'Selected!' - pay Rs 1,499 to confirm your seat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4800600" y="1810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TECHNIQUE</a:t>
            </a:r>
            <a:endParaRPr lang="en-US" sz="650" dirty="0"/>
          </a:p>
        </p:txBody>
      </p:sp>
      <p:sp>
        <p:nvSpPr>
          <p:cNvPr id="22" name="Text 17"/>
          <p:cNvSpPr txBox="1"/>
          <p:nvPr/>
        </p:nvSpPr>
        <p:spPr>
          <a:xfrm>
            <a:off x="5806440" y="18105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+ urgency (limited seats)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4800600" y="21122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 SIGN</a:t>
            </a:r>
            <a:endParaRPr lang="en-US" sz="650" dirty="0"/>
          </a:p>
        </p:txBody>
      </p:sp>
      <p:sp>
        <p:nvSpPr>
          <p:cNvPr id="24" name="Text 19"/>
          <p:cNvSpPr txBox="1"/>
          <p:nvPr/>
        </p:nvSpPr>
        <p:spPr>
          <a:xfrm>
            <a:off x="5806440" y="21122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applied; a fee is requested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4800600" y="24140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RESPONSE</a:t>
            </a:r>
            <a:endParaRPr lang="en-US" sz="650" dirty="0"/>
          </a:p>
        </p:txBody>
      </p:sp>
      <p:sp>
        <p:nvSpPr>
          <p:cNvPr id="26" name="Text 21"/>
          <p:cNvSpPr txBox="1"/>
          <p:nvPr/>
        </p:nvSpPr>
        <p:spPr>
          <a:xfrm>
            <a:off x="5806440" y="24140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official careers page; never pay to work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2834640"/>
            <a:ext cx="4069080" cy="1691640"/>
          </a:xfrm>
          <a:prstGeom prst="roundRect">
            <a:avLst>
              <a:gd name="adj" fmla="val 3784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68680" y="29260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Fake delivery notification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3291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SITUATION</a:t>
            </a:r>
            <a:endParaRPr lang="en-US" sz="650" dirty="0"/>
          </a:p>
        </p:txBody>
      </p:sp>
      <p:sp>
        <p:nvSpPr>
          <p:cNvPr id="31" name="Text 25"/>
          <p:cNvSpPr txBox="1"/>
          <p:nvPr/>
        </p:nvSpPr>
        <p:spPr>
          <a:xfrm>
            <a:off x="1554480" y="3291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'Parcel held. Pay Rs 25 redelivery fee' + link</a:t>
            </a:r>
            <a:endParaRPr lang="en-US" sz="85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3593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TECHNIQUE</a:t>
            </a:r>
            <a:endParaRPr lang="en-US" sz="650" dirty="0"/>
          </a:p>
        </p:txBody>
      </p:sp>
      <p:sp>
        <p:nvSpPr>
          <p:cNvPr id="33" name="Text 27"/>
          <p:cNvSpPr txBox="1"/>
          <p:nvPr/>
        </p:nvSpPr>
        <p:spPr>
          <a:xfrm>
            <a:off x="1554480" y="35935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+ small-cost trick</a:t>
            </a:r>
            <a:endParaRPr lang="en-US" sz="85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38953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 SIGN</a:t>
            </a:r>
            <a:endParaRPr lang="en-US" sz="650" dirty="0"/>
          </a:p>
        </p:txBody>
      </p:sp>
      <p:sp>
        <p:nvSpPr>
          <p:cNvPr id="35" name="Text 29"/>
          <p:cNvSpPr txBox="1"/>
          <p:nvPr/>
        </p:nvSpPr>
        <p:spPr>
          <a:xfrm>
            <a:off x="1554480" y="38953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 exists; card details on odd site</a:t>
            </a:r>
            <a:endParaRPr lang="en-US" sz="85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4197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RESPONSE</a:t>
            </a:r>
            <a:endParaRPr lang="en-US" sz="650" dirty="0"/>
          </a:p>
        </p:txBody>
      </p:sp>
      <p:sp>
        <p:nvSpPr>
          <p:cNvPr id="37" name="Text 31"/>
          <p:cNvSpPr txBox="1"/>
          <p:nvPr/>
        </p:nvSpPr>
        <p:spPr>
          <a:xfrm>
            <a:off x="1554480" y="419709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 the official app with your order ID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4663440" y="2834640"/>
            <a:ext cx="4069080" cy="1691640"/>
          </a:xfrm>
          <a:prstGeom prst="roundRect">
            <a:avLst>
              <a:gd name="adj" fmla="val 3784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926080"/>
            <a:ext cx="237744" cy="237744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5120640" y="29260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Fake IT support call</a:t>
            </a:r>
            <a:endParaRPr lang="en-US" sz="1150" dirty="0"/>
          </a:p>
        </p:txBody>
      </p:sp>
      <p:sp>
        <p:nvSpPr>
          <p:cNvPr id="41" name="Text 34"/>
          <p:cNvSpPr txBox="1"/>
          <p:nvPr/>
        </p:nvSpPr>
        <p:spPr>
          <a:xfrm>
            <a:off x="4800600" y="3291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SITUATION</a:t>
            </a:r>
            <a:endParaRPr lang="en-US" sz="650" dirty="0"/>
          </a:p>
        </p:txBody>
      </p:sp>
      <p:sp>
        <p:nvSpPr>
          <p:cNvPr id="42" name="Text 35"/>
          <p:cNvSpPr txBox="1"/>
          <p:nvPr/>
        </p:nvSpPr>
        <p:spPr>
          <a:xfrm>
            <a:off x="5806440" y="3291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Caller: 'IT desk - verify your password now'</a:t>
            </a:r>
            <a:endParaRPr lang="en-US" sz="850" dirty="0"/>
          </a:p>
        </p:txBody>
      </p:sp>
      <p:sp>
        <p:nvSpPr>
          <p:cNvPr id="43" name="Text 36"/>
          <p:cNvSpPr txBox="1"/>
          <p:nvPr/>
        </p:nvSpPr>
        <p:spPr>
          <a:xfrm>
            <a:off x="4800600" y="3593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TECHNIQUE</a:t>
            </a:r>
            <a:endParaRPr lang="en-US" sz="650" dirty="0"/>
          </a:p>
        </p:txBody>
      </p:sp>
      <p:sp>
        <p:nvSpPr>
          <p:cNvPr id="44" name="Text 37"/>
          <p:cNvSpPr txBox="1"/>
          <p:nvPr/>
        </p:nvSpPr>
        <p:spPr>
          <a:xfrm>
            <a:off x="5806440" y="35935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+ urgency (vishing)</a:t>
            </a:r>
            <a:endParaRPr lang="en-US" sz="850" dirty="0"/>
          </a:p>
        </p:txBody>
      </p:sp>
      <p:sp>
        <p:nvSpPr>
          <p:cNvPr id="45" name="Text 38"/>
          <p:cNvSpPr txBox="1"/>
          <p:nvPr/>
        </p:nvSpPr>
        <p:spPr>
          <a:xfrm>
            <a:off x="4800600" y="38953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 SIGN</a:t>
            </a:r>
            <a:endParaRPr lang="en-US" sz="650" dirty="0"/>
          </a:p>
        </p:txBody>
      </p:sp>
      <p:sp>
        <p:nvSpPr>
          <p:cNvPr id="46" name="Text 39"/>
          <p:cNvSpPr txBox="1"/>
          <p:nvPr/>
        </p:nvSpPr>
        <p:spPr>
          <a:xfrm>
            <a:off x="5806440" y="38953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Unsolicited call asking for password/OTP</a:t>
            </a:r>
            <a:endParaRPr lang="en-US" sz="850" dirty="0"/>
          </a:p>
        </p:txBody>
      </p:sp>
      <p:sp>
        <p:nvSpPr>
          <p:cNvPr id="47" name="Text 40"/>
          <p:cNvSpPr txBox="1"/>
          <p:nvPr/>
        </p:nvSpPr>
        <p:spPr>
          <a:xfrm>
            <a:off x="4800600" y="4197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RESPONSE</a:t>
            </a:r>
            <a:endParaRPr lang="en-US" sz="650" dirty="0"/>
          </a:p>
        </p:txBody>
      </p:sp>
      <p:sp>
        <p:nvSpPr>
          <p:cNvPr id="48" name="Text 41"/>
          <p:cNvSpPr txBox="1"/>
          <p:nvPr/>
        </p:nvSpPr>
        <p:spPr>
          <a:xfrm>
            <a:off x="5806440" y="419709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 up; call the official helpline yourself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// REAL-WORLD CASE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case: the $100M fake-invoice scam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111A2E"/>
          </a:solidFill>
          <a:ln w="9525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48640" y="1143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HAPPENED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2013-2015: a scammer posing as a Taiwan-based hardware supplier got Google and Facebook employees to wire over $100M. He pleaded guilty to wire fraud in 2019.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0" y="105156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111A2E"/>
          </a:solidFill>
          <a:ln w="9525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337560" y="1143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METHOD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3337560" y="141732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email compromise: a fake company, fraudulent emails, and forged invoices, contracts and letters with fake corporate stamps.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105156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111A2E"/>
          </a:solidFill>
          <a:ln w="9525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126480" y="1143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HE WANTED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141732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for 'legitimate' supplier bills redirected into bank accounts he controlled - money, not passwords.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788920"/>
            <a:ext cx="4114800" cy="1371600"/>
          </a:xfrm>
          <a:prstGeom prst="roundRect">
            <a:avLst>
              <a:gd name="adj" fmla="val 4667"/>
            </a:avLst>
          </a:prstGeom>
          <a:solidFill>
            <a:srgbClr val="111A2E"/>
          </a:solidFill>
          <a:ln w="9525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48640" y="28620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 SIGNS TO CHECK (our analysis)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108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details pointing to an unfamiliar account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emails from a spoofed or look-alike sender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Paperwork not cross-checked with the real vendor contact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17720" y="2788920"/>
            <a:ext cx="4114800" cy="1371600"/>
          </a:xfrm>
          <a:prstGeom prst="roundRect">
            <a:avLst>
              <a:gd name="adj" fmla="val 4667"/>
            </a:avLst>
          </a:prstGeom>
          <a:solidFill>
            <a:srgbClr val="111A2E"/>
          </a:solidFill>
          <a:ln w="9525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754880" y="28620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LESSON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4754880" y="3108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large, well-resourced companies can be fooled. Verify payment or bank-detail requests through a known, independent channel, and use a second approver.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11480" y="42519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NPR, "Man Pleads Guilty To Phishing Scheme That Fleeced Facebook, Google Of $100 Million" (25 Mar 2019) - npr.org/2019/03/25/706715377  |  NBC News, "Lithuanian pleads guilty in U.S. to $100 million fraud against Google, Facebook" - nbcnews.com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// CHECKLIST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 checklist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97280"/>
            <a:ext cx="1965960" cy="3291840"/>
          </a:xfrm>
          <a:prstGeom prst="roundRect">
            <a:avLst>
              <a:gd name="adj" fmla="val 3256"/>
            </a:avLst>
          </a:prstGeom>
          <a:solidFill>
            <a:srgbClr val="111A2E"/>
          </a:solidFill>
          <a:ln w="9525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11480" y="1188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651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clicking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60120" y="3108960"/>
            <a:ext cx="86868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6072" y="32461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Pause. Urgency is a signal to slow down, not a command.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14600" y="1097280"/>
            <a:ext cx="1965960" cy="3291840"/>
          </a:xfrm>
          <a:prstGeom prst="roundRect">
            <a:avLst>
              <a:gd name="adj" fmla="val 3256"/>
            </a:avLst>
          </a:prstGeom>
          <a:solidFill>
            <a:srgbClr val="111A2E"/>
          </a:solidFill>
          <a:ln w="9525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514600" y="1188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6600" dirty="0"/>
          </a:p>
        </p:txBody>
      </p:sp>
      <p:sp>
        <p:nvSpPr>
          <p:cNvPr id="13" name="Text 10"/>
          <p:cNvSpPr txBox="1"/>
          <p:nvPr/>
        </p:nvSpPr>
        <p:spPr>
          <a:xfrm>
            <a:off x="2514600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2651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request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063240" y="3108960"/>
            <a:ext cx="86868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2679192" y="32461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the real sender ask this way? Why now?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17720" y="1097280"/>
            <a:ext cx="1965960" cy="3291840"/>
          </a:xfrm>
          <a:prstGeom prst="roundRect">
            <a:avLst>
              <a:gd name="adj" fmla="val 3256"/>
            </a:avLst>
          </a:prstGeom>
          <a:solidFill>
            <a:srgbClr val="111A2E"/>
          </a:solidFill>
          <a:ln w="9525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617720" y="1188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6600" dirty="0"/>
          </a:p>
        </p:txBody>
      </p:sp>
      <p:sp>
        <p:nvSpPr>
          <p:cNvPr id="19" name="Text 16"/>
          <p:cNvSpPr txBox="1"/>
          <p:nvPr/>
        </p:nvSpPr>
        <p:spPr>
          <a:xfrm>
            <a:off x="4617720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709160" y="2651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sender, URL and context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166360" y="3108960"/>
            <a:ext cx="86868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4782312" y="32461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full address, hover over links, check if you expected it.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720840" y="1097280"/>
            <a:ext cx="1965960" cy="3291840"/>
          </a:xfrm>
          <a:prstGeom prst="roundRect">
            <a:avLst>
              <a:gd name="adj" fmla="val 3256"/>
            </a:avLst>
          </a:prstGeom>
          <a:solidFill>
            <a:srgbClr val="111A2E"/>
          </a:solidFill>
          <a:ln w="9525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6720840" y="1188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6600" dirty="0"/>
          </a:p>
        </p:txBody>
      </p:sp>
      <p:sp>
        <p:nvSpPr>
          <p:cNvPr id="25" name="Text 22"/>
          <p:cNvSpPr txBox="1"/>
          <p:nvPr/>
        </p:nvSpPr>
        <p:spPr>
          <a:xfrm>
            <a:off x="6720840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6812280" y="2651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verifying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3108960"/>
            <a:ext cx="86868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6885432" y="32461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official app, site or a number you already trust.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// INCIDENT RESPONSE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do if you clicked?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5074920" cy="457200"/>
          </a:xfrm>
          <a:prstGeom prst="roundRect">
            <a:avLst>
              <a:gd name="adj" fmla="val 14000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21208" y="1161288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interacting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278892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page; don't reply or open more links.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1554480"/>
            <a:ext cx="5074920" cy="457200"/>
          </a:xfrm>
          <a:prstGeom prst="roundRect">
            <a:avLst>
              <a:gd name="adj" fmla="val 14000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21208" y="1664208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exposed passwords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78892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official website or app, not the message link.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2057400"/>
            <a:ext cx="5074920" cy="457200"/>
          </a:xfrm>
          <a:prstGeom prst="roundRect">
            <a:avLst>
              <a:gd name="adj" fmla="val 14000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21208" y="2167128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278892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an authenticator app over SMS where offered.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1480" y="2560320"/>
            <a:ext cx="5074920" cy="457200"/>
          </a:xfrm>
          <a:prstGeom prst="roundRect">
            <a:avLst>
              <a:gd name="adj" fmla="val 14000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521208" y="2670048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96112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bank / provider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78892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card, bank details or an OTP were exposed.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11480" y="3063240"/>
            <a:ext cx="5074920" cy="457200"/>
          </a:xfrm>
          <a:prstGeom prst="roundRect">
            <a:avLst>
              <a:gd name="adj" fmla="val 14000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21208" y="3172968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96112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accounts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278892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logins, statements and unusual alerts.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3566160"/>
            <a:ext cx="5074920" cy="457200"/>
          </a:xfrm>
          <a:prstGeom prst="roundRect">
            <a:avLst>
              <a:gd name="adj" fmla="val 14000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521208" y="3675888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6112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attempt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278892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report-phishing option, then delete the message.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11480" y="4069080"/>
            <a:ext cx="5074920" cy="457200"/>
          </a:xfrm>
          <a:prstGeom prst="roundRect">
            <a:avLst>
              <a:gd name="adj" fmla="val 14000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521208" y="4178808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96112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official procedures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278892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college/employer IT team; use national channels.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669280" y="1051560"/>
            <a:ext cx="3063240" cy="3474720"/>
          </a:xfrm>
          <a:prstGeom prst="roundRect">
            <a:avLst>
              <a:gd name="adj" fmla="val 2090"/>
            </a:avLst>
          </a:prstGeom>
          <a:solidFill>
            <a:srgbClr val="111A2E"/>
          </a:solidFill>
          <a:ln w="9525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5806440" y="11430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DEPENDS ON WHAT WAS EXPOSED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5806440" y="1417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only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5806440" y="163677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 on the official site; enable MFA; change reused passwords.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5806440" y="21854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bank details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5806440" y="24048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your bank on the number on your card; watch statements.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5806440" y="29535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or PIN shared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5806440" y="31729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provider immediately - time matters.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5806440" y="3721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a file / installed an app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5806440" y="39410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Disconnect, run a security scan, tell IT or a trusted expert.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411480" y="457200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CISA "Teach Employees to Avoid Phishing" (change passwords if you suspect phishing; report and delete the message) and CISA/NSA/FBI/MS-ISAC phishing guidance (MFA, prompt reporting). India: cybercrime.gov.in / helpline 1930 - verify locally.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// INTERACTIVE QUIZ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time: 5 questions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4069080" cy="1097280"/>
          </a:xfrm>
          <a:prstGeom prst="roundRect">
            <a:avLst>
              <a:gd name="adj" fmla="val 5833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48640" y="1124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Which sender looks suspicious?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6245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support@northbridge.example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support@northbrldge.example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alerts@mail.northbridge.example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noreply@northbridge.example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11480" y="2240280"/>
            <a:ext cx="4069080" cy="1097280"/>
          </a:xfrm>
          <a:prstGeom prst="roundRect">
            <a:avLst>
              <a:gd name="adj" fmla="val 5833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23134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Which URL is the fake login?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55117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https://northbridge.example/login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https://northbridge.example.verify-account.invalid/login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https://login.northbridge.example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https://www.northbridge.example/help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3429000"/>
            <a:ext cx="4069080" cy="1097280"/>
          </a:xfrm>
          <a:prstGeom prst="roundRect">
            <a:avLst>
              <a:gd name="adj" fmla="val 5833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48640" y="3502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A 'bank agent' asks you to read out the OTP you just got. You...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73989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Read it out - they're verifying you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Send it by SMS instead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Hang up; call the number on your card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Ask for their name first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3440" y="1051560"/>
            <a:ext cx="4069080" cy="1097280"/>
          </a:xfrm>
          <a:prstGeom prst="roundRect">
            <a:avLst>
              <a:gd name="adj" fmla="val 5833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800600" y="1124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'This is the IT Director - send me your password now.' Tactic?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136245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Authority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Curiosity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Reward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Trust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63440" y="2240280"/>
            <a:ext cx="4069080" cy="1097280"/>
          </a:xfrm>
          <a:prstGeom prst="roundRect">
            <a:avLst>
              <a:gd name="adj" fmla="val 5833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800600" y="23134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Safest response to a suspicious bank SMS with a link?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255117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Tap the link to check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Reply STOP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Forward it to friends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Open the official app or site yourself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63440" y="3429000"/>
            <a:ext cx="4069080" cy="1097280"/>
          </a:xfrm>
          <a:prstGeom prst="roundRect">
            <a:avLst>
              <a:gd name="adj" fmla="val 5833"/>
            </a:avLst>
          </a:prstGeom>
          <a:solidFill>
            <a:srgbClr val="111A2E"/>
          </a:solidFill>
          <a:ln w="9525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4800600" y="3474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play
</a:t>
            </a:r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by show of hands, then move to the answer-key slide. Keep score: 4-5 = phish-proof, 2-3 = getting there, 0-1 = re-read the STOP slide.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13B // QUIZ ANSWER KEY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8321040" cy="621792"/>
          </a:xfrm>
          <a:prstGeom prst="roundRect">
            <a:avLst>
              <a:gd name="adj" fmla="val 10294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16128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34D3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C"/>
                </a:solidFill>
              </a:rPr>
              <a:t>B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105156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 domain: 'northbrldge' uses an l where the i should be.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755648"/>
            <a:ext cx="8321040" cy="621792"/>
          </a:xfrm>
          <a:prstGeom prst="roundRect">
            <a:avLst>
              <a:gd name="adj" fmla="val 10294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48640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6537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34D3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C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691640" y="17556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domain is the part just before the first '/': here it is verify-account.invalid, not northbridge.example.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2459736"/>
            <a:ext cx="8321040" cy="621792"/>
          </a:xfrm>
          <a:prstGeom prst="roundRect">
            <a:avLst>
              <a:gd name="adj" fmla="val 10294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48640" y="2642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256946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34D3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C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691640" y="2459736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OTPs are for you only. Hang up and call the number printed on your card.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" y="3163824"/>
            <a:ext cx="8321040" cy="621792"/>
          </a:xfrm>
          <a:prstGeom prst="roundRect">
            <a:avLst>
              <a:gd name="adj" fmla="val 10294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548640" y="3346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27355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34D3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C"/>
                </a:solidFill>
              </a:rPr>
              <a:t>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91640" y="3163824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(with urgency): the attacker pretends to be a senior person.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11480" y="3867912"/>
            <a:ext cx="8321040" cy="621792"/>
          </a:xfrm>
          <a:prstGeom prst="roundRect">
            <a:avLst>
              <a:gd name="adj" fmla="val 10294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48640" y="4050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39776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34D3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C"/>
                </a:solidFill>
              </a:rPr>
              <a:t>D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91640" y="3867912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the message's link. Go to the official app or site yourself.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// FINAL CHALLENGE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spot the phish?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5212080" cy="3520440"/>
          </a:xfrm>
          <a:prstGeom prst="roundRect">
            <a:avLst>
              <a:gd name="adj" fmla="val 1818"/>
            </a:avLst>
          </a:prstGeom>
          <a:solidFill>
            <a:srgbClr val="0E1627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MESSAGE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4173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 </a:t>
            </a:r>
            <a:pPr indent="0" marL="0">
              <a:buNone/>
            </a:pPr>
            <a:r>
              <a:rPr lang="en-US" sz="9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Lumenor Careers Desk &lt;offers@lumenor-hiring.invalid&gt;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733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 </a:t>
            </a:r>
            <a:pPr indent="0" marL="0">
              <a:buNone/>
            </a:pPr>
            <a:r>
              <a:rPr lang="en-US" sz="9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NOTICE: Internship offer - Rs 60,000/month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" y="1965960"/>
            <a:ext cx="4846320" cy="0"/>
          </a:xfrm>
          <a:prstGeom prst="line">
            <a:avLst/>
          </a:prstGeom>
          <a:noFill/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94360" y="20574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Student,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been SELECTED for a remote internship at Lumenor Tech. Pay a refundable registration fee of Rs 1,499 within 30 minutes or your seat goes to the next candidate.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here: lumenor-hiring-pay.invalid/secure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reply with a photo of your ID and your bank details. Please keep this confidential.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06440" y="1051560"/>
            <a:ext cx="2926080" cy="3520440"/>
          </a:xfrm>
          <a:prstGeom prst="roundRect">
            <a:avLst>
              <a:gd name="adj" fmla="val 2188"/>
            </a:avLst>
          </a:prstGeom>
          <a:solidFill>
            <a:srgbClr val="111A2E"/>
          </a:solidFill>
          <a:ln w="9525">
            <a:solidFill>
              <a:srgbClr val="22D3EE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25880"/>
            <a:ext cx="822960" cy="8229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94360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click it?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0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 why not?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263640" y="347472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A0F1C"/>
          </a:solidFill>
          <a:ln w="9525">
            <a:solidFill>
              <a:srgbClr val="FBB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FOR 20 SECONDS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14B // THE REVEAL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do NOT click. Here's why.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11A2E"/>
          </a:solidFill>
          <a:ln w="9525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21208" y="1161288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116128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1161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applied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6002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offers are a classic lure.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00400" y="105156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11A2E"/>
          </a:solidFill>
          <a:ln w="9525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3310128" y="1161288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6128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657600" y="1161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Pay-to-work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3337560" y="16002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employers don't charge a fee to hire you.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989320" y="105156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11A2E"/>
          </a:solidFill>
          <a:ln w="9525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099048" y="1161288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16128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46520" y="1161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deadline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6126480" y="16002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urgency stops you from checking.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11480" y="237744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11A2E"/>
          </a:solidFill>
          <a:ln w="9525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521208" y="2487168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2487168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68680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sender &amp; link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2926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isn't a known official company site.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3200400" y="237744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11A2E"/>
          </a:solidFill>
          <a:ln w="9525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26" name="Text 19"/>
          <p:cNvSpPr txBox="1"/>
          <p:nvPr/>
        </p:nvSpPr>
        <p:spPr>
          <a:xfrm>
            <a:off x="3310128" y="2487168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487168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657600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ID + bank details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3337560" y="2926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requested over an unverified message.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5989320" y="237744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11A2E"/>
          </a:solidFill>
          <a:ln w="9525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31" name="Text 23"/>
          <p:cNvSpPr txBox="1"/>
          <p:nvPr/>
        </p:nvSpPr>
        <p:spPr>
          <a:xfrm>
            <a:off x="6099048" y="2487168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2487168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446520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'Keep it confidential'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6126480" y="2926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Secrecy blocks you from asking others.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411480" y="3749040"/>
            <a:ext cx="8321040" cy="777240"/>
          </a:xfrm>
          <a:prstGeom prst="roundRect">
            <a:avLst>
              <a:gd name="adj" fmla="val 8235"/>
            </a:avLst>
          </a:prstGeom>
          <a:solidFill>
            <a:srgbClr val="10281F"/>
          </a:solidFill>
          <a:ln w="9525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36" name="Text 27"/>
          <p:cNvSpPr txBox="1"/>
          <p:nvPr/>
        </p:nvSpPr>
        <p:spPr>
          <a:xfrm>
            <a:off x="594360" y="37490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RESPONSE  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or pay. Check the company's official careers page or your placement cell, then report and delete the message. Also noted: generic greeting ('Hi Student').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// WRAP-UP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references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0515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clicking.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1755648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938528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75564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independently.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2459736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48640" y="2642616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245973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links and sender details.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" y="3163824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48640" y="3346704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316382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passwords or OTPs.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" y="3867912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548640" y="4050792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86791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activity.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709160" y="1051560"/>
            <a:ext cx="4023360" cy="3520440"/>
          </a:xfrm>
          <a:prstGeom prst="roundRect">
            <a:avLst>
              <a:gd name="adj" fmla="val 1818"/>
            </a:avLst>
          </a:prstGeom>
          <a:solidFill>
            <a:srgbClr val="111A2E"/>
          </a:solidFill>
          <a:ln w="9525">
            <a:solidFill>
              <a:srgbClr val="22304D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4846320" y="1143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- Recognize and Report Phishing (cisa.gov/secure-our-world)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- Teach Employees to Avoid Phishing (cisa.gov)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CISA, NSA, FBI, MS-ISAC - Phishing Guidance: Stopping the Attack Cycle at Phase One (Oct 2023)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- Phishing General Security Postcard (2024)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- Man Pleads Guilty To Phishing Scheme That Fleeced Facebook, Google Of $100 Million (25 Mar 2019)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NBC News - Lithuanian pleads guilty in U.S. to $100 million fraud against Google, Facebook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4069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scenarios, emails, domains and pages are fictional (.example / .invalid). Full URLs in the project guide.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3C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PhishShield</dc:title>
  <dc:subject>PptxGenJS Presentation</dc:subject>
  <dc:creator>Deepti</dc:creator>
  <cp:lastModifiedBy>Deepti</cp:lastModifiedBy>
  <cp:revision>1</cp:revision>
  <dcterms:created xsi:type="dcterms:W3CDTF">2026-10-02T14:51:40Z</dcterms:created>
  <dcterms:modified xsi:type="dcterms:W3CDTF">2026-10-02T14:51:40Z</dcterms:modified>
</cp:coreProperties>
</file>